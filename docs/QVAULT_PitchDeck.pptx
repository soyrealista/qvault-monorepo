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C63FF"/>
              </a:solidFill>
              <a:effectLst/>
            </c:spPr>
          </c:dPt>
          <c:dPt>
            <c:idx val="1"/>
            <c:bubble3D val="0"/>
            <c:spPr>
              <a:solidFill>
                <a:srgbClr val="00D4FF"/>
              </a:solidFill>
              <a:effectLst/>
            </c:spPr>
          </c:dPt>
          <c:dPt>
            <c:idx val="2"/>
            <c:bubble3D val="0"/>
            <c:spPr>
              <a:solidFill>
                <a:srgbClr val="00C97A"/>
              </a:solidFill>
              <a:effectLst/>
            </c:spPr>
          </c:dPt>
          <c:dPt>
            <c:idx val="3"/>
            <c:bubble3D val="0"/>
            <c:spPr>
              <a:solidFill>
                <a:srgbClr val="FF6B9D"/>
              </a:solidFill>
              <a:effectLst/>
            </c:spPr>
          </c:dPt>
          <c:dPt>
            <c:idx val="4"/>
            <c:bubble3D val="0"/>
            <c:spPr>
              <a:solidFill>
                <a:srgbClr val="FFD166"/>
              </a:solidFill>
              <a:effectLst/>
            </c:spPr>
          </c:dPt>
          <c:dPt>
            <c:idx val="5"/>
            <c:bubble3D val="0"/>
            <c:spPr>
              <a:solidFill>
                <a:srgbClr val="FF8C42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0F0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0F0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0F0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0F0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0F0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0F0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Fair Launch 40%</c:v>
                </c:pt>
                <c:pt idx="1">
                  <c:v>Community 25%</c:v>
                </c:pt>
                <c:pt idx="2">
                  <c:v>Treasury 15%</c:v>
                </c:pt>
                <c:pt idx="3">
                  <c:v>Team 10%</c:v>
                </c:pt>
                <c:pt idx="4">
                  <c:v>Liquidity 7%</c:v>
                </c:pt>
                <c:pt idx="5">
                  <c:v>Partners 3%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7</c:v>
                </c:pt>
                <c:pt idx="5">
                  <c:v>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C0C0D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7071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0C0D8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0C0D8"/>
                </a:solidFill>
                <a:latin typeface="Arial"/>
              </a:rPr>
              <a:t>Market Cap (USD millions)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Bear 🐻</c:v>
                </c:pt>
              </c:strCache>
            </c:strRef>
          </c:tx>
          <c:spPr>
            <a:solidFill>
              <a:srgbClr val="FF6B9D"/>
            </a:solidFill>
            <a:ln w="31750" cap="flat">
              <a:solidFill>
                <a:srgbClr val="FF6B9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B9D"/>
              </a:solidFill>
              <a:ln w="9525" cap="flat">
                <a:solidFill>
                  <a:srgbClr val="FF6B9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Launch</c:v>
                  </c:pt>
                  <c:pt idx="1">
                    <c:v>Yr 1</c:v>
                  </c:pt>
                  <c:pt idx="2">
                    <c:v>Yr 2</c:v>
                  </c:pt>
                  <c:pt idx="3">
                    <c:v>Yr 3</c:v>
                  </c:pt>
                  <c:pt idx="4">
                    <c:v>Yr 4</c:v>
                  </c:pt>
                  <c:pt idx="5">
                    <c:v>Yr 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2.4</c:v>
                </c:pt>
                <c:pt idx="3">
                  <c:v>2.88</c:v>
                </c:pt>
                <c:pt idx="4">
                  <c:v>3.46</c:v>
                </c:pt>
                <c:pt idx="5">
                  <c:v>4.15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 📊</c:v>
                </c:pt>
              </c:strCache>
            </c:strRef>
          </c:tx>
          <c:spPr>
            <a:solidFill>
              <a:srgbClr val="6C63FF"/>
            </a:solidFill>
            <a:ln w="31750" cap="flat">
              <a:solidFill>
                <a:srgbClr val="6C63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C63FF"/>
              </a:solidFill>
              <a:ln w="9525" cap="flat">
                <a:solidFill>
                  <a:srgbClr val="6C63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Launch</c:v>
                  </c:pt>
                  <c:pt idx="1">
                    <c:v>Yr 1</c:v>
                  </c:pt>
                  <c:pt idx="2">
                    <c:v>Yr 2</c:v>
                  </c:pt>
                  <c:pt idx="3">
                    <c:v>Yr 3</c:v>
                  </c:pt>
                  <c:pt idx="4">
                    <c:v>Yr 4</c:v>
                  </c:pt>
                  <c:pt idx="5">
                    <c:v>Yr 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10</c:v>
                </c:pt>
                <c:pt idx="2">
                  <c:v>18.5</c:v>
                </c:pt>
                <c:pt idx="3">
                  <c:v>34.2</c:v>
                </c:pt>
                <c:pt idx="4">
                  <c:v>63.3</c:v>
                </c:pt>
                <c:pt idx="5">
                  <c:v>117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Bull 🚀</c:v>
                </c:pt>
              </c:strCache>
            </c:strRef>
          </c:tx>
          <c:spPr>
            <a:solidFill>
              <a:srgbClr val="00C97A"/>
            </a:solidFill>
            <a:ln w="31750" cap="flat">
              <a:solidFill>
                <a:srgbClr val="00C9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C97A"/>
              </a:solidFill>
              <a:ln w="9525" cap="flat">
                <a:solidFill>
                  <a:srgbClr val="00C9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Launch</c:v>
                  </c:pt>
                  <c:pt idx="1">
                    <c:v>Yr 1</c:v>
                  </c:pt>
                  <c:pt idx="2">
                    <c:v>Yr 2</c:v>
                  </c:pt>
                  <c:pt idx="3">
                    <c:v>Yr 3</c:v>
                  </c:pt>
                  <c:pt idx="4">
                    <c:v>Yr 4</c:v>
                  </c:pt>
                  <c:pt idx="5">
                    <c:v>Yr 5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50</c:v>
                </c:pt>
                <c:pt idx="2">
                  <c:v>175</c:v>
                </c:pt>
                <c:pt idx="3">
                  <c:v>437</c:v>
                </c:pt>
                <c:pt idx="4">
                  <c:v>1000</c:v>
                </c:pt>
                <c:pt idx="5">
                  <c:v>2000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0A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1A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0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C0C0D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7071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rgbClr val="6C63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0F0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C63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C9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D16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6B9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Dev &amp; Audit</c:v>
                  </c:pt>
                  <c:pt idx="1">
                    <c:v>Liquidity</c:v>
                  </c:pt>
                  <c:pt idx="2">
                    <c:v>Community Growth</c:v>
                  </c:pt>
                  <c:pt idx="3">
                    <c:v>Security Suite</c:v>
                  </c:pt>
                  <c:pt idx="4">
                    <c:v>Legal &amp; Ops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0F0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0A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1A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070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707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0" y="-45720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dirty="0">
                <a:solidFill>
                  <a:srgbClr val="1A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⬡</a:t>
            </a:r>
            <a:endParaRPr lang="en-US" sz="280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1645920" cy="256032"/>
          </a:xfrm>
          <a:prstGeom prst="rect">
            <a:avLst/>
          </a:prstGeom>
          <a:solidFill>
            <a:srgbClr val="0D0D2B"/>
          </a:solidFill>
          <a:ln w="6350">
            <a:solidFill>
              <a:srgbClr val="00D4FF"/>
            </a:solidFill>
          </a:ln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WHITEPAPER v1.0  |  MAY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QVAULT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411480" y="2011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$QVLT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263347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Quantum-Proof Community Protocol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4434840"/>
            <a:ext cx="8321040" cy="1828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49884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50" kern="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Solana Blockchain  ·  SPL Token  ·  Community-First  ·  Quantum-Resistant Roadmap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45720" cy="59436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0" y="292608"/>
            <a:ext cx="1645920" cy="256032"/>
          </a:xfrm>
          <a:prstGeom prst="rect">
            <a:avLst/>
          </a:prstGeom>
          <a:solidFill>
            <a:srgbClr val="0D0D2B"/>
          </a:solidFill>
          <a:ln w="6350">
            <a:solidFill>
              <a:srgbClr val="FF6B9D"/>
            </a:solidFill>
          </a:ln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THREAT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$2.8 trillion crypto ecosystem is built on cryptography that quantum computers will break.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444752"/>
            <a:ext cx="4206240" cy="1417320"/>
          </a:xfrm>
          <a:prstGeom prst="rect">
            <a:avLst/>
          </a:prstGeom>
          <a:solidFill>
            <a:srgbClr val="12122E"/>
          </a:solidFill>
          <a:ln w="10160">
            <a:solidFill>
              <a:srgbClr val="FF6B9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078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6276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ECDSA Is Vulnerable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03911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Bitcoin, Ethereum &amp; Solana all use Elliptic Curve signatures. Shor's algorithm running on a quantum computer can crack private keys — estimated in ~9 minutes on future hardware.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91456" y="1444752"/>
            <a:ext cx="4206240" cy="1417320"/>
          </a:xfrm>
          <a:prstGeom prst="rect">
            <a:avLst/>
          </a:prstGeom>
          <a:solidFill>
            <a:srgbClr val="12122E"/>
          </a:solidFill>
          <a:ln w="10160">
            <a:solidFill>
              <a:srgbClr val="FF6B9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70078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16276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6.9M BTC at Risk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956048" y="203911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 of total Bitcoin supply sits in addresses with exposed public keys. Directly vulnerable once quantum computers reach sufficient power.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84048" y="3017520"/>
            <a:ext cx="4206240" cy="1417320"/>
          </a:xfrm>
          <a:prstGeom prst="rect">
            <a:avLst/>
          </a:prstGeom>
          <a:solidFill>
            <a:srgbClr val="12122E"/>
          </a:solidFill>
          <a:ln w="10160">
            <a:solidFill>
              <a:srgbClr val="FF6B9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7355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32004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Unified Community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48640" y="361188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Quantum-resistant projects exist but lack community, culture, and DeFi utility. The narrative is powerful — but has no home. No tribe.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791456" y="3017520"/>
            <a:ext cx="4206240" cy="1417320"/>
          </a:xfrm>
          <a:prstGeom prst="rect">
            <a:avLst/>
          </a:prstGeom>
          <a:solidFill>
            <a:srgbClr val="12122E"/>
          </a:solidFill>
          <a:ln w="10160">
            <a:solidFill>
              <a:srgbClr val="FF6B9D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27355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13248" y="32004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Window Is Closing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956048" y="361188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finalized post-quantum standards in 2024. Governments mandate quantum-resistance by 2035. Early movers define the next era.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45720" cy="5943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Opportunity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0" y="292608"/>
            <a:ext cx="1645920" cy="256032"/>
          </a:xfrm>
          <a:prstGeom prst="rect">
            <a:avLst/>
          </a:prstGeom>
          <a:solidFill>
            <a:srgbClr val="0D0D2B"/>
          </a:solidFill>
          <a:ln w="6350">
            <a:solidFill>
              <a:srgbClr val="FFD166"/>
            </a:solidFill>
          </a:ln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MARKET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1280160"/>
          </a:xfrm>
          <a:prstGeom prst="rect">
            <a:avLst/>
          </a:prstGeom>
          <a:solidFill>
            <a:srgbClr val="1212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$2.8T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7099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707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AT RISK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10128" y="1005840"/>
            <a:ext cx="2651760" cy="1280160"/>
          </a:xfrm>
          <a:prstGeom prst="rect">
            <a:avLst/>
          </a:prstGeom>
          <a:solidFill>
            <a:srgbClr val="12122E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0128" y="10515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9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$9B+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10128" y="17099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707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QUANTUM-RESISTANT SECTOR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63056" y="1005840"/>
            <a:ext cx="2651760" cy="1280160"/>
          </a:xfrm>
          <a:prstGeom prst="rect">
            <a:avLst/>
          </a:prstGeom>
          <a:solidFill>
            <a:srgbClr val="12122E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63056" y="10515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2035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63056" y="17099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707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GOV. MANDATE DEADLINE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48716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perfect narrative gap: quantum security urgency + DeFi mechanics + zero dominant community player.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" y="2834640"/>
            <a:ext cx="2743200" cy="1783080"/>
          </a:xfrm>
          <a:prstGeom prst="rect">
            <a:avLst/>
          </a:prstGeom>
          <a:solidFill>
            <a:srgbClr val="12122E"/>
          </a:solidFill>
          <a:ln w="10160">
            <a:solidFill>
              <a:srgbClr val="6C6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443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Power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computing fear is real, covered by mainstream media, and growing — providing organic marketing momentum.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91840" y="2834640"/>
            <a:ext cx="2743200" cy="1783080"/>
          </a:xfrm>
          <a:prstGeom prst="rect">
            <a:avLst/>
          </a:prstGeom>
          <a:solidFill>
            <a:srgbClr val="12122E"/>
          </a:solidFill>
          <a:ln w="1016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29443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Ocean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56432" y="33375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project combines quantum security + DeFi utility + strong retail community. QVAULT owns the intersection.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99632" y="2834640"/>
            <a:ext cx="2743200" cy="1783080"/>
          </a:xfrm>
          <a:prstGeom prst="rect">
            <a:avLst/>
          </a:prstGeom>
          <a:solidFill>
            <a:srgbClr val="12122E"/>
          </a:solidFill>
          <a:ln w="10160">
            <a:solidFill>
              <a:srgbClr val="6C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29443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Is Perfect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64224" y="33375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standards finalized. Governments mandating readiness. The conversation shifts from 'if' to 'when'.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45720" cy="594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QVAULT Solution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0" y="292608"/>
            <a:ext cx="1645920" cy="256032"/>
          </a:xfrm>
          <a:prstGeom prst="rect">
            <a:avLst/>
          </a:prstGeom>
          <a:solidFill>
            <a:srgbClr val="0D0D2B"/>
          </a:solidFill>
          <a:ln w="6350">
            <a:solidFill>
              <a:srgbClr val="00D4FF"/>
            </a:solidFill>
          </a:ln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PROTOCOL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interlocking layers that create compounding value for $QVLT holders.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417320"/>
            <a:ext cx="2788920" cy="3310128"/>
          </a:xfrm>
          <a:prstGeom prst="rect">
            <a:avLst/>
          </a:prstGeom>
          <a:solidFill>
            <a:srgbClr val="12122E"/>
          </a:solidFill>
          <a:ln w="15240">
            <a:solidFill>
              <a:srgbClr val="6C6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417320"/>
            <a:ext cx="2788920" cy="7315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664208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2064" y="22311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01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250545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&amp; Governance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12064" y="3035808"/>
            <a:ext cx="24688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globally distributed DAO united by quantum-safe finance. Governance gives holders real power over every protocol decision.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91840" y="1417320"/>
            <a:ext cx="2788920" cy="3310128"/>
          </a:xfrm>
          <a:prstGeom prst="rect">
            <a:avLst/>
          </a:prstGeom>
          <a:solidFill>
            <a:srgbClr val="12122E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1417320"/>
            <a:ext cx="278892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664208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56432" y="22311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02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456432" y="250545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Utility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456432" y="3035808"/>
            <a:ext cx="24688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staking tiers (8–30% APY), fee-sharing, buyback-and-burn mechanics, and liquidity mining. Real yield, deflationary by design.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236208" y="1417320"/>
            <a:ext cx="2788920" cy="3310128"/>
          </a:xfrm>
          <a:prstGeom prst="rect">
            <a:avLst/>
          </a:prstGeom>
          <a:solidFill>
            <a:srgbClr val="12122E"/>
          </a:solidFill>
          <a:ln w="15240">
            <a:solidFill>
              <a:srgbClr val="00C97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36208" y="1417320"/>
            <a:ext cx="2788920" cy="73152"/>
          </a:xfrm>
          <a:prstGeom prst="rect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664208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0800" y="22311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03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6400800" y="250545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Quantum-Resistant L1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400800" y="3035808"/>
            <a:ext cx="24688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Layer 1 blockchain with NIST-approved CRYSTALS-Dilithium signatures. EVM-compatible. DAO-governed. Launching 2027–28.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45720" cy="5943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Tokenomics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0" y="292608"/>
            <a:ext cx="1645920" cy="256032"/>
          </a:xfrm>
          <a:prstGeom prst="rect">
            <a:avLst/>
          </a:prstGeom>
          <a:solidFill>
            <a:srgbClr val="0D0D2B"/>
          </a:solidFill>
          <a:ln w="6350">
            <a:solidFill>
              <a:srgbClr val="6C63FF"/>
            </a:solidFill>
          </a:ln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$QVLT</a:t>
            </a:r>
            <a:endParaRPr lang="en-US" sz="8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47472" y="960120"/>
          <a:ext cx="37490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325880" y="21488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1B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QVLT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617720" y="10058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Distribution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17720" y="1444752"/>
            <a:ext cx="502920" cy="4754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17720" y="144475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7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30368" y="1508760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Staker Rewards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17720" y="2103120"/>
            <a:ext cx="502920" cy="475488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17720" y="21031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7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230368" y="2167128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Buyback &amp; Burn 🔥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17720" y="2761488"/>
            <a:ext cx="502920" cy="475488"/>
          </a:xfrm>
          <a:prstGeom prst="rect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17720" y="276148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7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230368" y="2825496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DAO Treasury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617720" y="3419856"/>
            <a:ext cx="502920" cy="47548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17720" y="341985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7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230368" y="3483864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&amp; Marketing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617720" y="4133088"/>
            <a:ext cx="4206240" cy="1828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17720" y="418795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 supply  ·  No additional minting  ·  Fair launch  ·  No VC presale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45720" cy="594360"/>
          </a:xfrm>
          <a:prstGeom prst="rect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Staking Tiers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0" y="292608"/>
            <a:ext cx="1645920" cy="256032"/>
          </a:xfrm>
          <a:prstGeom prst="rect">
            <a:avLst/>
          </a:prstGeom>
          <a:solidFill>
            <a:srgbClr val="0D0D2B"/>
          </a:solidFill>
          <a:ln w="6350">
            <a:solidFill>
              <a:srgbClr val="00C97A"/>
            </a:solidFill>
          </a:ln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STAKING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tiers, real yields, Tokenomics 2.0 — every fee dollar flows back to holders.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417320"/>
            <a:ext cx="2788920" cy="3246120"/>
          </a:xfrm>
          <a:prstGeom prst="rect">
            <a:avLst/>
          </a:prstGeom>
          <a:solidFill>
            <a:srgbClr val="12122E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417320"/>
            <a:ext cx="278892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627632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0704" y="16824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Electron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12064" y="215798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MIN. STAKE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12064" y="23774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QVLT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12064" y="27614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EST. APY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12064" y="298094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8–12%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12064" y="3438144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share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voting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reward epochs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91840" y="1417320"/>
            <a:ext cx="2788920" cy="3246120"/>
          </a:xfrm>
          <a:prstGeom prst="rect">
            <a:avLst/>
          </a:prstGeom>
          <a:solidFill>
            <a:srgbClr val="12122E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91840" y="1417320"/>
            <a:ext cx="2788920" cy="6400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627632"/>
            <a:ext cx="438912" cy="43891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005072" y="16824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Photon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3456432" y="215798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MIN. STAKE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456432" y="23774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 QVLT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456432" y="27614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EST. APY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456432" y="298094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14–20%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3456432" y="3438144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Electron perks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ecosystem access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whitelist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236208" y="1417320"/>
            <a:ext cx="2788920" cy="3246120"/>
          </a:xfrm>
          <a:prstGeom prst="rect">
            <a:avLst/>
          </a:prstGeom>
          <a:solidFill>
            <a:srgbClr val="12122E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236208" y="1417320"/>
            <a:ext cx="278892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627632"/>
            <a:ext cx="438912" cy="43891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949440" y="16824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Qubit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6400800" y="215798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MIN. STAKE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6400800" y="23774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 QVLT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6400800" y="27614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EST. APY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6400800" y="298094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22–30%</a:t>
            </a:r>
            <a:endParaRPr lang="en-US" sz="2200" dirty="0"/>
          </a:p>
        </p:txBody>
      </p:sp>
      <p:sp>
        <p:nvSpPr>
          <p:cNvPr id="32" name="Text 27"/>
          <p:cNvSpPr/>
          <p:nvPr/>
        </p:nvSpPr>
        <p:spPr>
          <a:xfrm>
            <a:off x="6400800" y="3438144"/>
            <a:ext cx="2487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Photon perks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DAO Council seat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&amp; vote on governance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45720" cy="594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0" y="292608"/>
            <a:ext cx="1645920" cy="256032"/>
          </a:xfrm>
          <a:prstGeom prst="rect">
            <a:avLst/>
          </a:prstGeom>
          <a:solidFill>
            <a:srgbClr val="0D0D2B"/>
          </a:solidFill>
          <a:ln w="6350">
            <a:solidFill>
              <a:srgbClr val="00D4FF"/>
            </a:solidFill>
          </a:ln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ROADMAP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234440" y="1261872"/>
            <a:ext cx="676656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115568"/>
            <a:ext cx="292608" cy="29260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572768"/>
            <a:ext cx="2743200" cy="3200400"/>
          </a:xfrm>
          <a:prstGeom prst="rect">
            <a:avLst/>
          </a:prstGeom>
          <a:solidFill>
            <a:srgbClr val="12122E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572768"/>
            <a:ext cx="2743200" cy="6400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7190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2064" y="19933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Launch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" y="2523744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launch on Solana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Staking platform live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QVAULT community genesis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DAO first vote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15968" y="1115568"/>
            <a:ext cx="292608" cy="29260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572768"/>
            <a:ext cx="2743200" cy="3200400"/>
          </a:xfrm>
          <a:prstGeom prst="rect">
            <a:avLst/>
          </a:prstGeom>
          <a:solidFill>
            <a:srgbClr val="1212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572768"/>
            <a:ext cx="27432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17190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56432" y="19933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DeFi Expansion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56432" y="2523744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Suite v1.0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CEX listings (Tier 2)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 program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Qubit tier live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60336" y="1115568"/>
            <a:ext cx="292608" cy="292608"/>
          </a:xfrm>
          <a:prstGeom prst="ellipse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572768"/>
            <a:ext cx="2743200" cy="3200400"/>
          </a:xfrm>
          <a:prstGeom prst="rect">
            <a:avLst/>
          </a:prstGeom>
          <a:solidFill>
            <a:srgbClr val="12122E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6208" y="1572768"/>
            <a:ext cx="2743200" cy="64008"/>
          </a:xfrm>
          <a:prstGeom prst="rect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7190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2027–28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19933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Quantum L1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2523744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testnet launch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Dilithium signatures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$QVLT migration bridge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 DAO-governed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45720" cy="594360"/>
          </a:xfrm>
          <a:prstGeom prst="rect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Solana?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0" y="292608"/>
            <a:ext cx="1645920" cy="256032"/>
          </a:xfrm>
          <a:prstGeom prst="rect">
            <a:avLst/>
          </a:prstGeom>
          <a:solidFill>
            <a:srgbClr val="0D0D2B"/>
          </a:solidFill>
          <a:ln w="6350">
            <a:solidFill>
              <a:srgbClr val="00C97A"/>
            </a:solidFill>
          </a:ln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BLOCKCHAIN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ideal launchpad for a retail-first community token in 2026.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417320"/>
            <a:ext cx="4251960" cy="438912"/>
          </a:xfrm>
          <a:prstGeom prst="rect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07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◎ Solana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" y="1920240"/>
            <a:ext cx="4251960" cy="402336"/>
          </a:xfrm>
          <a:prstGeom prst="rect">
            <a:avLst/>
          </a:prstGeom>
          <a:solidFill>
            <a:srgbClr val="12122E"/>
          </a:solidFill>
          <a:ln w="12700">
            <a:solidFill>
              <a:srgbClr val="1212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9751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Active Wallets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35808" y="19751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340864"/>
            <a:ext cx="4251960" cy="402336"/>
          </a:xfrm>
          <a:prstGeom prst="rect">
            <a:avLst/>
          </a:prstGeom>
          <a:solidFill>
            <a:srgbClr val="0D0D2B"/>
          </a:solidFill>
          <a:ln w="12700">
            <a:solidFill>
              <a:srgbClr val="0D0D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3957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Transaction Cost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035808" y="23957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$0.00025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2761488"/>
            <a:ext cx="4251960" cy="402336"/>
          </a:xfrm>
          <a:prstGeom prst="rect">
            <a:avLst/>
          </a:prstGeom>
          <a:solidFill>
            <a:srgbClr val="12122E"/>
          </a:solidFill>
          <a:ln w="12700">
            <a:solidFill>
              <a:srgbClr val="1212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8163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 Volume Share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035808" y="28163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&gt;50% global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3182112"/>
            <a:ext cx="4251960" cy="402336"/>
          </a:xfrm>
          <a:prstGeom prst="rect">
            <a:avLst/>
          </a:prstGeom>
          <a:solidFill>
            <a:srgbClr val="0D0D2B"/>
          </a:solidFill>
          <a:ln w="12700">
            <a:solidFill>
              <a:srgbClr val="0D0D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2369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TPS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035808" y="32369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4,000+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602736"/>
            <a:ext cx="4251960" cy="402336"/>
          </a:xfrm>
          <a:prstGeom prst="rect">
            <a:avLst/>
          </a:prstGeom>
          <a:solidFill>
            <a:srgbClr val="12122E"/>
          </a:solidFill>
          <a:ln w="12700">
            <a:solidFill>
              <a:srgbClr val="1212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657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ETF Inflows (2026)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035808" y="3657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$476M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4023360"/>
            <a:ext cx="4251960" cy="402336"/>
          </a:xfrm>
          <a:prstGeom prst="rect">
            <a:avLst/>
          </a:prstGeom>
          <a:solidFill>
            <a:srgbClr val="0D0D2B"/>
          </a:solidFill>
          <a:ln w="12700">
            <a:solidFill>
              <a:srgbClr val="0D0D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40782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Revenue Growth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035808" y="40782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+186%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4048" y="4443984"/>
            <a:ext cx="4251960" cy="402336"/>
          </a:xfrm>
          <a:prstGeom prst="rect">
            <a:avLst/>
          </a:prstGeom>
          <a:solidFill>
            <a:srgbClr val="12122E"/>
          </a:solidFill>
          <a:ln w="12700">
            <a:solidFill>
              <a:srgbClr val="1212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4498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Culture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035808" y="44988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18888" y="1417320"/>
            <a:ext cx="4251960" cy="438912"/>
          </a:xfrm>
          <a:prstGeom prst="rect">
            <a:avLst/>
          </a:prstGeom>
          <a:solidFill>
            <a:srgbClr val="12122E"/>
          </a:solidFill>
          <a:ln w="12700">
            <a:solidFill>
              <a:srgbClr val="7070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4630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070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⟠ Ethereum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818888" y="1920240"/>
            <a:ext cx="4251960" cy="402336"/>
          </a:xfrm>
          <a:prstGeom prst="rect">
            <a:avLst/>
          </a:prstGeom>
          <a:solidFill>
            <a:srgbClr val="12122E"/>
          </a:solidFill>
          <a:ln w="12700">
            <a:solidFill>
              <a:srgbClr val="1212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46904" y="19751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Active Wallets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470648" y="19751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530K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18888" y="2340864"/>
            <a:ext cx="4251960" cy="402336"/>
          </a:xfrm>
          <a:prstGeom prst="rect">
            <a:avLst/>
          </a:prstGeom>
          <a:solidFill>
            <a:srgbClr val="0D0D2B"/>
          </a:solidFill>
          <a:ln w="12700">
            <a:solidFill>
              <a:srgbClr val="0D0D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46904" y="23957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Transaction Cost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470648" y="23957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$0.10–$0.30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18888" y="2761488"/>
            <a:ext cx="4251960" cy="402336"/>
          </a:xfrm>
          <a:prstGeom prst="rect">
            <a:avLst/>
          </a:prstGeom>
          <a:solidFill>
            <a:srgbClr val="12122E"/>
          </a:solidFill>
          <a:ln w="12700">
            <a:solidFill>
              <a:srgbClr val="1212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46904" y="28163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DEX Volume Share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470648" y="28163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~35% (via L2s)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18888" y="3182112"/>
            <a:ext cx="4251960" cy="402336"/>
          </a:xfrm>
          <a:prstGeom prst="rect">
            <a:avLst/>
          </a:prstGeom>
          <a:solidFill>
            <a:srgbClr val="0D0D2B"/>
          </a:solidFill>
          <a:ln w="12700">
            <a:solidFill>
              <a:srgbClr val="0D0D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46904" y="32369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TPS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470648" y="32369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15–50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18888" y="3602736"/>
            <a:ext cx="4251960" cy="402336"/>
          </a:xfrm>
          <a:prstGeom prst="rect">
            <a:avLst/>
          </a:prstGeom>
          <a:solidFill>
            <a:srgbClr val="12122E"/>
          </a:solidFill>
          <a:ln w="12700">
            <a:solidFill>
              <a:srgbClr val="1212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46904" y="3657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ETF Inflows (2026)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470648" y="3657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18888" y="4023360"/>
            <a:ext cx="4251960" cy="402336"/>
          </a:xfrm>
          <a:prstGeom prst="rect">
            <a:avLst/>
          </a:prstGeom>
          <a:solidFill>
            <a:srgbClr val="0D0D2B"/>
          </a:solidFill>
          <a:ln w="12700">
            <a:solidFill>
              <a:srgbClr val="0D0D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40782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Revenue Growth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470648" y="40782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to L2s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18888" y="4443984"/>
            <a:ext cx="4251960" cy="402336"/>
          </a:xfrm>
          <a:prstGeom prst="rect">
            <a:avLst/>
          </a:prstGeom>
          <a:solidFill>
            <a:srgbClr val="12122E"/>
          </a:solidFill>
          <a:ln w="12700">
            <a:solidFill>
              <a:srgbClr val="1212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4498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Culture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470648" y="44988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Institutional-leaning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84048" y="473659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QVAULT launches on Solana in Phase 1 — migrates to proprietary quantum L1 in Phase 3.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45720" cy="5943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Community Strategy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0" y="292608"/>
            <a:ext cx="1645920" cy="256032"/>
          </a:xfrm>
          <a:prstGeom prst="rect">
            <a:avLst/>
          </a:prstGeom>
          <a:solidFill>
            <a:srgbClr val="0D0D2B"/>
          </a:solidFill>
          <a:ln w="6350">
            <a:solidFill>
              <a:srgbClr val="6C63FF"/>
            </a:solidFill>
          </a:ln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COMMUNITY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project that has a community — a community that has a protocol.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353312"/>
            <a:ext cx="2798064" cy="1664208"/>
          </a:xfrm>
          <a:prstGeom prst="rect">
            <a:avLst/>
          </a:prstGeom>
          <a:solidFill>
            <a:srgbClr val="12122E"/>
          </a:solidFill>
          <a:ln w="8890">
            <a:solidFill>
              <a:srgbClr val="6C63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53619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9264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Ambassador Program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12064" y="1975104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rewards for leaders who grow the movement. Real incentives for real builders — not bots.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1353312"/>
            <a:ext cx="2798064" cy="1664208"/>
          </a:xfrm>
          <a:prstGeom prst="rect">
            <a:avLst/>
          </a:prstGeom>
          <a:solidFill>
            <a:srgbClr val="12122E"/>
          </a:solidFill>
          <a:ln w="8890">
            <a:solidFill>
              <a:srgbClr val="6C63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53619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13632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DAO Governance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456432" y="1975104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$QVLT holders vote on all major decisions. Your tokens = your voice. Real power, on-chain.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236208" y="1353312"/>
            <a:ext cx="2798064" cy="1664208"/>
          </a:xfrm>
          <a:prstGeom prst="rect">
            <a:avLst/>
          </a:prstGeom>
          <a:solidFill>
            <a:srgbClr val="12122E"/>
          </a:solidFill>
          <a:ln w="8890">
            <a:solidFill>
              <a:srgbClr val="6C63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3619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5800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QVAULT Academy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400800" y="1975104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quantum cryptography courses. Informed holders become evangelists. Evangelists build movements.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347472" y="3182112"/>
            <a:ext cx="2798064" cy="1664208"/>
          </a:xfrm>
          <a:prstGeom prst="rect">
            <a:avLst/>
          </a:prstGeom>
          <a:solidFill>
            <a:srgbClr val="12122E"/>
          </a:solidFill>
          <a:ln w="8890">
            <a:solidFill>
              <a:srgbClr val="6C63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36499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9264" y="3383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Briefings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12064" y="3803904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newsletter: accessible summaries of quantum computing and crypto security news.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291840" y="3182112"/>
            <a:ext cx="2798064" cy="1664208"/>
          </a:xfrm>
          <a:prstGeom prst="rect">
            <a:avLst/>
          </a:prstGeom>
          <a:solidFill>
            <a:srgbClr val="12122E"/>
          </a:solidFill>
          <a:ln w="8890">
            <a:solidFill>
              <a:srgbClr val="6C63F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3364992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913632" y="3383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Rewards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3456432" y="3803904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rewards for verified community referrals. Organic growth that compounds naturally.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6236208" y="3182112"/>
            <a:ext cx="2798064" cy="1664208"/>
          </a:xfrm>
          <a:prstGeom prst="rect">
            <a:avLst/>
          </a:prstGeom>
          <a:solidFill>
            <a:srgbClr val="12122E"/>
          </a:solidFill>
          <a:ln w="8890">
            <a:solidFill>
              <a:srgbClr val="6C63FF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364992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58000" y="3383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 Program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6400800" y="3803904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quantum-resistant Web3 builders from the DAO treasury. Attract top-tier technical talent.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45720" cy="594360"/>
          </a:xfrm>
          <a:prstGeom prst="rect">
            <a:avLst/>
          </a:prstGeom>
          <a:solidFill>
            <a:srgbClr val="00C97A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Price Scenarios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0" y="292608"/>
            <a:ext cx="1645920" cy="256032"/>
          </a:xfrm>
          <a:prstGeom prst="rect">
            <a:avLst/>
          </a:prstGeom>
          <a:solidFill>
            <a:srgbClr val="0D0D2B"/>
          </a:solidFill>
          <a:ln w="6350">
            <a:solidFill>
              <a:srgbClr val="00C97A"/>
            </a:solidFill>
          </a:ln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PROJECTIONS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price $0.001 · Total supply 1B QVLT · Fully-diluted valuation at TGE: $1M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47472" y="1298448"/>
          <a:ext cx="5303520" cy="34015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897880" y="12984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at Peak Market Cap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97880" y="1719072"/>
            <a:ext cx="713232" cy="320040"/>
          </a:xfrm>
          <a:prstGeom prst="rect">
            <a:avLst/>
          </a:prstGeom>
          <a:solidFill>
            <a:srgbClr val="12122E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1719072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611112" y="1719072"/>
            <a:ext cx="713232" cy="320040"/>
          </a:xfrm>
          <a:prstGeom prst="rect">
            <a:avLst/>
          </a:prstGeom>
          <a:solidFill>
            <a:srgbClr val="12122E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11112" y="1719072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Peak Cap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324344" y="1719072"/>
            <a:ext cx="713232" cy="320040"/>
          </a:xfrm>
          <a:prstGeom prst="rect">
            <a:avLst/>
          </a:prstGeom>
          <a:solidFill>
            <a:srgbClr val="12122E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24344" y="1719072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$100 in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8037576" y="1719072"/>
            <a:ext cx="713232" cy="320040"/>
          </a:xfrm>
          <a:prstGeom prst="rect">
            <a:avLst/>
          </a:prstGeom>
          <a:solidFill>
            <a:srgbClr val="12122E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37576" y="1719072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$1K in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897880" y="2066544"/>
            <a:ext cx="713232" cy="658368"/>
          </a:xfrm>
          <a:prstGeom prst="rect">
            <a:avLst/>
          </a:prstGeom>
          <a:solidFill>
            <a:srgbClr val="12122E"/>
          </a:solidFill>
          <a:ln w="3810">
            <a:solidFill>
              <a:srgbClr val="6C63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2066544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 🐻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611112" y="2066544"/>
            <a:ext cx="713232" cy="658368"/>
          </a:xfrm>
          <a:prstGeom prst="rect">
            <a:avLst/>
          </a:prstGeom>
          <a:solidFill>
            <a:srgbClr val="12122E"/>
          </a:solidFill>
          <a:ln w="3810">
            <a:solidFill>
              <a:srgbClr val="6C63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11112" y="2066544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$5M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324344" y="2066544"/>
            <a:ext cx="713232" cy="658368"/>
          </a:xfrm>
          <a:prstGeom prst="rect">
            <a:avLst/>
          </a:prstGeom>
          <a:solidFill>
            <a:srgbClr val="12122E"/>
          </a:solidFill>
          <a:ln w="3810">
            <a:solidFill>
              <a:srgbClr val="6C63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24344" y="2066544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037576" y="2066544"/>
            <a:ext cx="713232" cy="658368"/>
          </a:xfrm>
          <a:prstGeom prst="rect">
            <a:avLst/>
          </a:prstGeom>
          <a:solidFill>
            <a:srgbClr val="12122E"/>
          </a:solidFill>
          <a:ln w="3810">
            <a:solidFill>
              <a:srgbClr val="6C63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37576" y="2066544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897880" y="2816352"/>
            <a:ext cx="713232" cy="658368"/>
          </a:xfrm>
          <a:prstGeom prst="rect">
            <a:avLst/>
          </a:prstGeom>
          <a:solidFill>
            <a:srgbClr val="0D0D2B"/>
          </a:solidFill>
          <a:ln w="3810">
            <a:solidFill>
              <a:srgbClr val="6C63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97880" y="2816352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📊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611112" y="2816352"/>
            <a:ext cx="713232" cy="658368"/>
          </a:xfrm>
          <a:prstGeom prst="rect">
            <a:avLst/>
          </a:prstGeom>
          <a:solidFill>
            <a:srgbClr val="0D0D2B"/>
          </a:solidFill>
          <a:ln w="3810">
            <a:solidFill>
              <a:srgbClr val="6C63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11112" y="2816352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$100M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324344" y="2816352"/>
            <a:ext cx="713232" cy="658368"/>
          </a:xfrm>
          <a:prstGeom prst="rect">
            <a:avLst/>
          </a:prstGeom>
          <a:solidFill>
            <a:srgbClr val="0D0D2B"/>
          </a:solidFill>
          <a:ln w="3810">
            <a:solidFill>
              <a:srgbClr val="6C63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24344" y="2816352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$10,000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8037576" y="2816352"/>
            <a:ext cx="713232" cy="658368"/>
          </a:xfrm>
          <a:prstGeom prst="rect">
            <a:avLst/>
          </a:prstGeom>
          <a:solidFill>
            <a:srgbClr val="0D0D2B"/>
          </a:solidFill>
          <a:ln w="3810">
            <a:solidFill>
              <a:srgbClr val="6C63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37576" y="2816352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$100,000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897880" y="3566160"/>
            <a:ext cx="713232" cy="658368"/>
          </a:xfrm>
          <a:prstGeom prst="rect">
            <a:avLst/>
          </a:prstGeom>
          <a:solidFill>
            <a:srgbClr val="12122E"/>
          </a:solidFill>
          <a:ln w="3810">
            <a:solidFill>
              <a:srgbClr val="6C63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97880" y="356616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 🚀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611112" y="3566160"/>
            <a:ext cx="713232" cy="658368"/>
          </a:xfrm>
          <a:prstGeom prst="rect">
            <a:avLst/>
          </a:prstGeom>
          <a:solidFill>
            <a:srgbClr val="12122E"/>
          </a:solidFill>
          <a:ln w="3810">
            <a:solidFill>
              <a:srgbClr val="6C63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611112" y="356616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$500M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7324344" y="3566160"/>
            <a:ext cx="713232" cy="658368"/>
          </a:xfrm>
          <a:prstGeom prst="rect">
            <a:avLst/>
          </a:prstGeom>
          <a:solidFill>
            <a:srgbClr val="12122E"/>
          </a:solidFill>
          <a:ln w="3810">
            <a:solidFill>
              <a:srgbClr val="6C63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24344" y="356616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$50,000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8037576" y="3566160"/>
            <a:ext cx="713232" cy="658368"/>
          </a:xfrm>
          <a:prstGeom prst="rect">
            <a:avLst/>
          </a:prstGeom>
          <a:solidFill>
            <a:srgbClr val="12122E"/>
          </a:solidFill>
          <a:ln w="3810">
            <a:solidFill>
              <a:srgbClr val="6C63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037576" y="3566160"/>
            <a:ext cx="71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$500,000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897880" y="47183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07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Projections are illustrative. Crypto markets are highly volatile. Not financial advice.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45720" cy="594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0" y="292608"/>
            <a:ext cx="1645920" cy="256032"/>
          </a:xfrm>
          <a:prstGeom prst="rect">
            <a:avLst/>
          </a:prstGeom>
          <a:solidFill>
            <a:srgbClr val="0D0D2B"/>
          </a:solidFill>
          <a:ln w="6350">
            <a:solidFill>
              <a:srgbClr val="00D4FF"/>
            </a:solidFill>
          </a:ln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TECH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4224528" cy="868680"/>
          </a:xfrm>
          <a:prstGeom prst="rect">
            <a:avLst/>
          </a:prstGeom>
          <a:solidFill>
            <a:srgbClr val="12122E"/>
          </a:solidFill>
          <a:ln w="889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1155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STANDARD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12064" y="138988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 Token (Solana Program Library)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024128"/>
            <a:ext cx="4224528" cy="868680"/>
          </a:xfrm>
          <a:prstGeom prst="rect">
            <a:avLst/>
          </a:prstGeom>
          <a:solidFill>
            <a:srgbClr val="12122E"/>
          </a:solidFill>
          <a:ln w="889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11155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CONTRACT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919472" y="138988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/ Anchor Framework v0.30.1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2011680"/>
            <a:ext cx="4224528" cy="868680"/>
          </a:xfrm>
          <a:prstGeom prst="rect">
            <a:avLst/>
          </a:prstGeom>
          <a:solidFill>
            <a:srgbClr val="12122E"/>
          </a:solidFill>
          <a:ln w="889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1031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STAKING LOGIC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12064" y="23774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PDA accounts, linear APY accrual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2011680"/>
            <a:ext cx="4224528" cy="868680"/>
          </a:xfrm>
          <a:prstGeom prst="rect">
            <a:avLst/>
          </a:prstGeom>
          <a:solidFill>
            <a:srgbClr val="12122E"/>
          </a:solidFill>
          <a:ln w="889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21031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919472" y="23774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proposals + weighted vote (Qubit tier)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2999232"/>
            <a:ext cx="4224528" cy="868680"/>
          </a:xfrm>
          <a:prstGeom prst="rect">
            <a:avLst/>
          </a:prstGeom>
          <a:solidFill>
            <a:srgbClr val="12122E"/>
          </a:solidFill>
          <a:ln w="8890">
            <a:solidFill>
              <a:srgbClr val="6C6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0906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 DISTRIBUTION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12064" y="336499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split via CPI — no trusted admin needed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999232"/>
            <a:ext cx="4224528" cy="868680"/>
          </a:xfrm>
          <a:prstGeom prst="rect">
            <a:avLst/>
          </a:prstGeom>
          <a:solidFill>
            <a:srgbClr val="12122E"/>
          </a:solidFill>
          <a:ln w="8890">
            <a:solidFill>
              <a:srgbClr val="FF6B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0906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BUYBACK &amp; BURN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919472" y="336499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burn() instruction, publicly verifiable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7472" y="3986784"/>
            <a:ext cx="4224528" cy="868680"/>
          </a:xfrm>
          <a:prstGeom prst="rect">
            <a:avLst/>
          </a:prstGeom>
          <a:solidFill>
            <a:srgbClr val="12122E"/>
          </a:solidFill>
          <a:ln w="8890">
            <a:solidFill>
              <a:srgbClr val="00C9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40782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 CRYPTO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12064" y="435254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CRYSTALS-Dilithium (NIST FIPS 204) + SPHINCS+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986784"/>
            <a:ext cx="4224528" cy="868680"/>
          </a:xfrm>
          <a:prstGeom prst="rect">
            <a:avLst/>
          </a:prstGeom>
          <a:solidFill>
            <a:srgbClr val="12122E"/>
          </a:solidFill>
          <a:ln w="8890">
            <a:solidFill>
              <a:srgbClr val="00C9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40782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00C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 CONSENSUS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919472" y="435254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Proof-of-Stake with post-quantum VRF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7472" y="4754880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07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All smart contract code open-sourced on GitHub. Professional security audit required before mainnet.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45720" cy="5943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Team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0" y="292608"/>
            <a:ext cx="1645920" cy="256032"/>
          </a:xfrm>
          <a:prstGeom prst="rect">
            <a:avLst/>
          </a:prstGeom>
          <a:solidFill>
            <a:srgbClr val="0D0D2B"/>
          </a:solidFill>
          <a:ln w="6350">
            <a:solidFill>
              <a:srgbClr val="6C63FF"/>
            </a:solidFill>
          </a:ln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TEAM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World-class builders at the intersection of cryptography, DeFi, and community.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417320"/>
            <a:ext cx="4224528" cy="1554480"/>
          </a:xfrm>
          <a:prstGeom prst="rect">
            <a:avLst/>
          </a:prstGeom>
          <a:solidFill>
            <a:srgbClr val="12122E"/>
          </a:solidFill>
          <a:ln w="10160">
            <a:solidFill>
              <a:srgbClr val="6C63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737360"/>
            <a:ext cx="475488" cy="4754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2064" y="1673352"/>
            <a:ext cx="566928" cy="566928"/>
          </a:xfrm>
          <a:prstGeom prst="ellipse">
            <a:avLst/>
          </a:prstGeom>
          <a:solidFill>
            <a:srgbClr val="0D0D2B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88720" y="16184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&amp; Co-Founder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12064" y="2313432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10yr crypto entrepreneur. Ex-DeFi protocol lead. Community builder with 2 successful exits.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54880" y="1417320"/>
            <a:ext cx="4224528" cy="1554480"/>
          </a:xfrm>
          <a:prstGeom prst="rect">
            <a:avLst/>
          </a:prstGeom>
          <a:solidFill>
            <a:srgbClr val="12122E"/>
          </a:solidFill>
          <a:ln w="10160">
            <a:solidFill>
              <a:srgbClr val="6C63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475488" cy="47548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919472" y="1673352"/>
            <a:ext cx="566928" cy="566928"/>
          </a:xfrm>
          <a:prstGeom prst="ellipse">
            <a:avLst/>
          </a:prstGeom>
          <a:solidFill>
            <a:srgbClr val="0D0D2B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596128" y="16184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&amp; Co-Founder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919472" y="2313432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 in Post-Quantum Cryptography. Core contributor to Solana ecosystem. Rust/Anchor expert.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47472" y="3136392"/>
            <a:ext cx="4224528" cy="1554480"/>
          </a:xfrm>
          <a:prstGeom prst="rect">
            <a:avLst/>
          </a:prstGeom>
          <a:solidFill>
            <a:srgbClr val="12122E"/>
          </a:solidFill>
          <a:ln w="10160">
            <a:solidFill>
              <a:srgbClr val="6C63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456432"/>
            <a:ext cx="475488" cy="47548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12064" y="3392424"/>
            <a:ext cx="566928" cy="566928"/>
          </a:xfrm>
          <a:prstGeom prst="ellipse">
            <a:avLst/>
          </a:prstGeom>
          <a:solidFill>
            <a:srgbClr val="0D0D2B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188720" y="33375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Community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12064" y="4032504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Grew 3 Web3 communities to 100K+ members. Former ecosystem lead at top-5 L1 blockchain.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754880" y="3136392"/>
            <a:ext cx="4224528" cy="1554480"/>
          </a:xfrm>
          <a:prstGeom prst="rect">
            <a:avLst/>
          </a:prstGeom>
          <a:solidFill>
            <a:srgbClr val="12122E"/>
          </a:solidFill>
          <a:ln w="10160">
            <a:solidFill>
              <a:srgbClr val="6C63F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456432"/>
            <a:ext cx="475488" cy="475488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919472" y="3392424"/>
            <a:ext cx="566928" cy="566928"/>
          </a:xfrm>
          <a:prstGeom prst="ellipse">
            <a:avLst/>
          </a:prstGeom>
          <a:solidFill>
            <a:srgbClr val="0D0D2B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596128" y="33375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DeFi &amp; Tokenomics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919472" y="4032504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tokenomics for $500M+ TVL protocols. Former quant trader &amp; DeFi researcher.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347472" y="4773168"/>
            <a:ext cx="8458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Advisors from top quantum computing research institutions and Web3 security firms  |  Team details available under NDA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45720" cy="5943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5603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of Funds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0" y="292608"/>
            <a:ext cx="1645920" cy="256032"/>
          </a:xfrm>
          <a:prstGeom prst="rect">
            <a:avLst/>
          </a:prstGeom>
          <a:solidFill>
            <a:srgbClr val="0D0D2B"/>
          </a:solidFill>
          <a:ln w="6350">
            <a:solidFill>
              <a:srgbClr val="FFD166"/>
            </a:solidFill>
          </a:ln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FUNDRAISE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target: $2M  ·  Fair launch (no VC tokens)  ·  Community allocation protected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47472" y="1298448"/>
          <a:ext cx="4937760" cy="34015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68112" y="129844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26480" y="1316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&amp; Smart Contract Audit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126480" y="15727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independent audits (OtterSec / Halborn / Trail of Bits), full Anchor program development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68112" y="1975104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26480" y="19933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Provision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126480" y="22494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Raydium &amp; Orca LP seeding for stable trading depth from day 1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468112" y="265176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26480" y="2670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Growth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126480" y="2926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Ambassador program, KOL partnerships, X Spaces, content bounties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468112" y="3328416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12%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126480" y="3346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Suite v1.0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126480" y="36027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quantum vulnerability toolkit for the broader Web3 ecosystem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468112" y="400507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8%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126480" y="4023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Ops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126480" y="42793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analysis (EU MiCA, US frameworks), entity setup, compliance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0" y="-1097280"/>
            <a:ext cx="53035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0" dirty="0">
                <a:solidFill>
                  <a:srgbClr val="111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⬡</a:t>
            </a:r>
            <a:endParaRPr lang="en-US" sz="360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1645920" cy="256032"/>
          </a:xfrm>
          <a:prstGeom prst="rect">
            <a:avLst/>
          </a:prstGeom>
          <a:solidFill>
            <a:srgbClr val="0D0D2B"/>
          </a:solidFill>
          <a:ln w="6350">
            <a:solidFill>
              <a:srgbClr val="00D4FF"/>
            </a:solidFill>
          </a:ln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THE MOVEMENT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quantum era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11480" y="1426464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coming.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11480" y="2231136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 you ready?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11480" y="312724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07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Fair Launch Q3 2026  ·  Solana  ·  $QVLT  ·  Community-First  ·  DAO-Governed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3675888"/>
            <a:ext cx="2011680" cy="530352"/>
          </a:xfrm>
          <a:prstGeom prst="rect">
            <a:avLst/>
          </a:prstGeom>
          <a:solidFill>
            <a:srgbClr val="1212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7588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qvault.es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87752" y="3675888"/>
            <a:ext cx="2011680" cy="530352"/>
          </a:xfrm>
          <a:prstGeom prst="rect">
            <a:avLst/>
          </a:prstGeom>
          <a:solidFill>
            <a:srgbClr val="12122E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367588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Read Whitepaper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64024" y="3675888"/>
            <a:ext cx="2011680" cy="530352"/>
          </a:xfrm>
          <a:prstGeom prst="rect">
            <a:avLst/>
          </a:prstGeom>
          <a:solidFill>
            <a:srgbClr val="12122E"/>
          </a:solidFill>
          <a:ln w="12700">
            <a:solidFill>
              <a:srgbClr val="00C9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367588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Join Discord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40296" y="3675888"/>
            <a:ext cx="2011680" cy="530352"/>
          </a:xfrm>
          <a:prstGeom prst="rect">
            <a:avLst/>
          </a:prstGeom>
          <a:solidFill>
            <a:srgbClr val="12122E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0296" y="367588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🐦  Follow @QVAULTprotocol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07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QVAULT Protocol  ·  Not financial advice  ·  Subject to applicable laws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QVAULT ($QVLT) — Investor Pitch Deck</dc:title>
  <dc:subject>PptxGenJS Presentation</dc:subject>
  <dc:creator>QVAULT Protocol</dc:creator>
  <cp:lastModifiedBy>QVAULT Protocol</cp:lastModifiedBy>
  <cp:revision>1</cp:revision>
  <dcterms:created xsi:type="dcterms:W3CDTF">2026-05-13T06:26:00Z</dcterms:created>
  <dcterms:modified xsi:type="dcterms:W3CDTF">2026-05-13T06:26:00Z</dcterms:modified>
</cp:coreProperties>
</file>